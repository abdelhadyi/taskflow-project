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bdelhadyi/taskflow-project.gi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https://github.com/abdelhadyi/taskflow-project.git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github.com/abdelhadyi/taskflow-project.git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github.com/abdelhadyi/taskflow-project.git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github.com/abdelhadyi/taskflow-project.git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github.com/abdelhadyi/taskflow-project.git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github.com/abdelhadyi/taskflow-project.git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bdelhadyi/taskflow-project.gi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bdelhadyi/taskflow-project.git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bdelhadyi/taskflow-project.gi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0622" y="0"/>
            <a:ext cx="1547378" cy="1329194"/>
            <a:chOff x="0" y="0"/>
            <a:chExt cx="407540" cy="350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7540" cy="350076"/>
            </a:xfrm>
            <a:custGeom>
              <a:avLst/>
              <a:gdLst/>
              <a:ahLst/>
              <a:cxnLst/>
              <a:rect r="r" b="b" t="t" l="l"/>
              <a:pathLst>
                <a:path h="350076" w="407540">
                  <a:moveTo>
                    <a:pt x="0" y="0"/>
                  </a:moveTo>
                  <a:lnTo>
                    <a:pt x="407540" y="0"/>
                  </a:lnTo>
                  <a:lnTo>
                    <a:pt x="407540" y="350076"/>
                  </a:lnTo>
                  <a:lnTo>
                    <a:pt x="0" y="35007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7540" cy="38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61173" y="1176794"/>
            <a:ext cx="16045330" cy="739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</a:p>
          <a:p>
            <a:pPr algn="ctr">
              <a:lnSpc>
                <a:spcPts val="6840"/>
              </a:lnSpc>
            </a:pPr>
            <a:r>
              <a:rPr lang="en-US" b="true" sz="4885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TASKFLOW</a:t>
            </a:r>
          </a:p>
          <a:p>
            <a:pPr algn="ctr">
              <a:lnSpc>
                <a:spcPts val="6840"/>
              </a:lnSpc>
            </a:pPr>
            <a:r>
              <a:rPr lang="en-US" b="true" sz="4885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DEVOPS PIPELINE FOR MICROSERVICES</a:t>
            </a:r>
          </a:p>
          <a:p>
            <a:pPr algn="ctr">
              <a:lnSpc>
                <a:spcPts val="2080"/>
              </a:lnSpc>
            </a:pPr>
          </a:p>
          <a:p>
            <a:pPr algn="ctr">
              <a:lnSpc>
                <a:spcPts val="4740"/>
              </a:lnSpc>
            </a:pPr>
            <a:r>
              <a:rPr lang="en-US" sz="3386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AUTOMATED INFRASTRUCTURE &amp; DEPLOYMENT ON AWS EKS</a:t>
            </a:r>
          </a:p>
          <a:p>
            <a:pPr algn="ctr">
              <a:lnSpc>
                <a:spcPts val="4740"/>
              </a:lnSpc>
            </a:pPr>
          </a:p>
          <a:p>
            <a:pPr algn="l">
              <a:lnSpc>
                <a:spcPts val="7400"/>
              </a:lnSpc>
            </a:pPr>
          </a:p>
          <a:p>
            <a:pPr algn="l">
              <a:lnSpc>
                <a:spcPts val="7400"/>
              </a:lnSpc>
            </a:pPr>
          </a:p>
          <a:p>
            <a:pPr algn="ctr">
              <a:lnSpc>
                <a:spcPts val="3480"/>
              </a:lnSpc>
            </a:pPr>
            <a:r>
              <a:rPr lang="en-US" b="true" sz="2486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</a:t>
            </a:r>
            <a:r>
              <a:rPr lang="en-US" sz="2486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ABDELHADY ELSAYED GOMAA</a:t>
            </a:r>
          </a:p>
          <a:p>
            <a:pPr algn="ctr">
              <a:lnSpc>
                <a:spcPts val="75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2" tooltip="https://github.com/abdelhadyi/taskflow-project.git"/>
              </a:rPr>
              <a:t>https://github.com/abdelhadyi/taskflow-project.git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8952651"/>
            <a:ext cx="1547378" cy="1329194"/>
            <a:chOff x="0" y="0"/>
            <a:chExt cx="407540" cy="3500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7540" cy="350076"/>
            </a:xfrm>
            <a:custGeom>
              <a:avLst/>
              <a:gdLst/>
              <a:ahLst/>
              <a:cxnLst/>
              <a:rect r="r" b="b" t="t" l="l"/>
              <a:pathLst>
                <a:path h="350076" w="407540">
                  <a:moveTo>
                    <a:pt x="0" y="0"/>
                  </a:moveTo>
                  <a:lnTo>
                    <a:pt x="407540" y="0"/>
                  </a:lnTo>
                  <a:lnTo>
                    <a:pt x="407540" y="350076"/>
                  </a:lnTo>
                  <a:lnTo>
                    <a:pt x="0" y="35007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7540" cy="38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385818"/>
            <a:ext cx="15360207" cy="6038210"/>
          </a:xfrm>
          <a:custGeom>
            <a:avLst/>
            <a:gdLst/>
            <a:ahLst/>
            <a:cxnLst/>
            <a:rect r="r" b="b" t="t" l="l"/>
            <a:pathLst>
              <a:path h="6038210" w="15360207">
                <a:moveTo>
                  <a:pt x="0" y="0"/>
                </a:moveTo>
                <a:lnTo>
                  <a:pt x="15360207" y="0"/>
                </a:lnTo>
                <a:lnTo>
                  <a:pt x="15360207" y="6038210"/>
                </a:lnTo>
                <a:lnTo>
                  <a:pt x="0" y="6038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55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2670" y="7424028"/>
            <a:ext cx="11301259" cy="1596303"/>
          </a:xfrm>
          <a:custGeom>
            <a:avLst/>
            <a:gdLst/>
            <a:ahLst/>
            <a:cxnLst/>
            <a:rect r="r" b="b" t="t" l="l"/>
            <a:pathLst>
              <a:path h="1596303" w="11301259">
                <a:moveTo>
                  <a:pt x="0" y="0"/>
                </a:moveTo>
                <a:lnTo>
                  <a:pt x="11301259" y="0"/>
                </a:lnTo>
                <a:lnTo>
                  <a:pt x="11301259" y="1596302"/>
                </a:lnTo>
                <a:lnTo>
                  <a:pt x="0" y="1596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4" tooltip="https://github.com/abdelhadyi/taskflow-project.git"/>
              </a:rPr>
              <a:t>https://github.com/abdelhadyi/taskflow-project.git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HIGH-LEVEL ARCHTICTURE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38380" y="3723523"/>
            <a:ext cx="9805465" cy="5318546"/>
          </a:xfrm>
          <a:custGeom>
            <a:avLst/>
            <a:gdLst/>
            <a:ahLst/>
            <a:cxnLst/>
            <a:rect r="r" b="b" t="t" l="l"/>
            <a:pathLst>
              <a:path h="5318546" w="9805465">
                <a:moveTo>
                  <a:pt x="0" y="0"/>
                </a:moveTo>
                <a:lnTo>
                  <a:pt x="9805465" y="0"/>
                </a:lnTo>
                <a:lnTo>
                  <a:pt x="9805465" y="5318546"/>
                </a:lnTo>
                <a:lnTo>
                  <a:pt x="0" y="531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144" t="-12911" r="-22958" b="-1150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08237"/>
            <a:ext cx="11159889" cy="303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92" indent="-310896" lvl="1">
              <a:lnSpc>
                <a:spcPts val="4031"/>
              </a:lnSpc>
              <a:spcBef>
                <a:spcPct val="0"/>
              </a:spcBef>
              <a:buFont typeface="Arial"/>
              <a:buChar char="•"/>
            </a:pPr>
            <a:r>
              <a:rPr lang="en-US" sz="287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MODULAR INFRASTRUCTURE PROVISIONING</a:t>
            </a:r>
          </a:p>
          <a:p>
            <a:pPr algn="l" marL="621792" indent="-310896" lvl="1">
              <a:lnSpc>
                <a:spcPts val="4031"/>
              </a:lnSpc>
              <a:spcBef>
                <a:spcPct val="0"/>
              </a:spcBef>
              <a:buFont typeface="Arial"/>
              <a:buChar char="•"/>
            </a:pPr>
            <a:r>
              <a:rPr lang="en-US" sz="287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STATE FILE SECURITY &amp; CONCURRENCY:</a:t>
            </a:r>
          </a:p>
          <a:p>
            <a:pPr algn="l" marL="1865376" indent="-466344" lvl="3">
              <a:lnSpc>
                <a:spcPts val="4031"/>
              </a:lnSpc>
              <a:spcBef>
                <a:spcPct val="0"/>
              </a:spcBef>
              <a:buFont typeface="Arial"/>
              <a:buChar char="￭"/>
            </a:pPr>
            <a:r>
              <a:rPr lang="en-US" sz="287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BACKEND: AWS S3</a:t>
            </a:r>
          </a:p>
          <a:p>
            <a:pPr algn="l" marL="1865376" indent="-466344" lvl="3">
              <a:lnSpc>
                <a:spcPts val="4031"/>
              </a:lnSpc>
              <a:spcBef>
                <a:spcPct val="0"/>
              </a:spcBef>
              <a:buFont typeface="Arial"/>
              <a:buChar char="￭"/>
            </a:pPr>
            <a:r>
              <a:rPr lang="en-US" sz="287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STATE LOCKING: AWS DYNAMODB (LOCKID)</a:t>
            </a:r>
          </a:p>
          <a:p>
            <a:pPr algn="l">
              <a:lnSpc>
                <a:spcPts val="4031"/>
              </a:lnSpc>
              <a:spcBef>
                <a:spcPct val="0"/>
              </a:spcBef>
            </a:pPr>
          </a:p>
          <a:p>
            <a:pPr algn="l">
              <a:lnSpc>
                <a:spcPts val="403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INFRASTRUCTURE AS CODE</a:t>
            </a: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(TERRAFORM)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3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7723"/>
            <a:ext cx="16744950" cy="353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TRIGGERS: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DYNAMIC PATH-BASED TRIGGERS PER MICROSERVICE DIRECTORY.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STAGES: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LIN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TING &amp; FORMATTING CHECK ⟶  UNIT TESTING 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QULAITY GATE (SONARQUBE)</a:t>
            </a:r>
          </a:p>
          <a:p>
            <a:pPr algn="l" marL="1245368" indent="-415123" lvl="2">
              <a:lnSpc>
                <a:spcPts val="4037"/>
              </a:lnSpc>
              <a:spcBef>
                <a:spcPct val="0"/>
              </a:spcBef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DOCKER BU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ILD ⟶ 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IMAGE SCAN (TRIVY) ⟶ 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PUSH IMAGE TO AWS ECR </a:t>
            </a:r>
          </a:p>
          <a:p>
            <a:pPr algn="l" marL="1245368" indent="-415123" lvl="2">
              <a:lnSpc>
                <a:spcPts val="4037"/>
              </a:lnSpc>
              <a:spcBef>
                <a:spcPct val="0"/>
              </a:spcBef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UPDATE KUBERNETES DEPLOYMENT WITH THE UPDATED IMAGE</a:t>
            </a: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INTEG</a:t>
            </a: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RATION (GITHUB ACTIONS)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26415" y="5143500"/>
            <a:ext cx="14957992" cy="3413626"/>
          </a:xfrm>
          <a:custGeom>
            <a:avLst/>
            <a:gdLst/>
            <a:ahLst/>
            <a:cxnLst/>
            <a:rect r="r" b="b" t="t" l="l"/>
            <a:pathLst>
              <a:path h="3413626" w="14957992">
                <a:moveTo>
                  <a:pt x="0" y="0"/>
                </a:moveTo>
                <a:lnTo>
                  <a:pt x="14957992" y="0"/>
                </a:lnTo>
                <a:lnTo>
                  <a:pt x="14957992" y="3413626"/>
                </a:lnTo>
                <a:lnTo>
                  <a:pt x="0" y="341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35" r="0" b="-1701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3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9033" y="5322352"/>
            <a:ext cx="10769934" cy="2537997"/>
          </a:xfrm>
          <a:custGeom>
            <a:avLst/>
            <a:gdLst/>
            <a:ahLst/>
            <a:cxnLst/>
            <a:rect r="r" b="b" t="t" l="l"/>
            <a:pathLst>
              <a:path h="2537997" w="10769934">
                <a:moveTo>
                  <a:pt x="0" y="0"/>
                </a:moveTo>
                <a:lnTo>
                  <a:pt x="10769934" y="0"/>
                </a:lnTo>
                <a:lnTo>
                  <a:pt x="10769934" y="2537996"/>
                </a:lnTo>
                <a:lnTo>
                  <a:pt x="0" y="2537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407723"/>
            <a:ext cx="11925001" cy="353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WHY AR</a:t>
            </a: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GOCD?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PUSH-BASED VS. PULL-BASED DEPLOYMENT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CORE MECHANICS:</a:t>
            </a:r>
          </a:p>
          <a:p>
            <a:pPr algn="l" marL="1245368" indent="-415123" lvl="2">
              <a:lnSpc>
                <a:spcPts val="4037"/>
              </a:lnSpc>
              <a:spcBef>
                <a:spcPct val="0"/>
              </a:spcBef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DECLA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RATIVE DESIRED ST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ATE - G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IT AS SOURCE OF TRU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</a:p>
          <a:p>
            <a:pPr algn="l" marL="1245368" indent="-415123" lvl="2">
              <a:lnSpc>
                <a:spcPts val="4037"/>
              </a:lnSpc>
              <a:spcBef>
                <a:spcPct val="0"/>
              </a:spcBef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UTOMATED RECONCILI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ATION LOOP</a:t>
            </a:r>
          </a:p>
          <a:p>
            <a:pPr algn="l" marL="1245368" indent="-415123" lvl="2">
              <a:lnSpc>
                <a:spcPts val="4037"/>
              </a:lnSpc>
              <a:spcBef>
                <a:spcPct val="0"/>
              </a:spcBef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SELF-HEALING &amp; ELIMINATING CONFIGURATION DRIFT</a:t>
            </a: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DELIVE</a:t>
            </a: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RY &amp; GITOPS (ARGOCD)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3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1525" y="2356879"/>
            <a:ext cx="17350912" cy="6376460"/>
          </a:xfrm>
          <a:custGeom>
            <a:avLst/>
            <a:gdLst/>
            <a:ahLst/>
            <a:cxnLst/>
            <a:rect r="r" b="b" t="t" l="l"/>
            <a:pathLst>
              <a:path h="6376460" w="17350912">
                <a:moveTo>
                  <a:pt x="0" y="0"/>
                </a:moveTo>
                <a:lnTo>
                  <a:pt x="17350912" y="0"/>
                </a:lnTo>
                <a:lnTo>
                  <a:pt x="17350912" y="6376460"/>
                </a:lnTo>
                <a:lnTo>
                  <a:pt x="0" y="637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7723"/>
            <a:ext cx="15166583" cy="151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CORE K</a:t>
            </a: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UBERNETES OBJECTS USED</a:t>
            </a:r>
          </a:p>
          <a:p>
            <a:pPr algn="l" marL="1245368" indent="-415123" lvl="2">
              <a:lnSpc>
                <a:spcPts val="4037"/>
              </a:lnSpc>
              <a:spcBef>
                <a:spcPct val="0"/>
              </a:spcBef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DEPLOYMENTS, 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SERVICES, 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INGRESS, 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CONFIGMAPS, SECRETS AND JOBS</a:t>
            </a: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EKS CLUSTER ARCHTICTURE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3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56308" y="5143500"/>
            <a:ext cx="7155405" cy="3157322"/>
          </a:xfrm>
          <a:custGeom>
            <a:avLst/>
            <a:gdLst/>
            <a:ahLst/>
            <a:cxnLst/>
            <a:rect r="r" b="b" t="t" l="l"/>
            <a:pathLst>
              <a:path h="3157322" w="7155405">
                <a:moveTo>
                  <a:pt x="0" y="0"/>
                </a:moveTo>
                <a:lnTo>
                  <a:pt x="7155405" y="0"/>
                </a:lnTo>
                <a:lnTo>
                  <a:pt x="7155405" y="3157322"/>
                </a:lnTo>
                <a:lnTo>
                  <a:pt x="0" y="315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07723"/>
            <a:ext cx="15166583" cy="395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WHY AWS RDS? 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ARCHITECTURAL TRADE-OFF:  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AWS RDS POSTGRESQL VS. K8S STATEFULSETS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DATABASE-PER-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SERVICE PATTER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N:</a:t>
            </a:r>
          </a:p>
          <a:p>
            <a:pPr algn="l" marL="1159011" indent="-386337" lvl="2">
              <a:lnSpc>
                <a:spcPts val="3757"/>
              </a:lnSpc>
              <a:spcBef>
                <a:spcPct val="0"/>
              </a:spcBef>
              <a:buFont typeface="Arial"/>
              <a:buChar char="⚬"/>
            </a:pPr>
            <a:r>
              <a:rPr lang="en-US" sz="26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USERS_DB   ||   </a:t>
            </a:r>
            <a:r>
              <a:rPr lang="en-US" sz="26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PROJECTS_DB   ||   TASKS_DB   ||   NOTIFICATIONS_DB</a:t>
            </a:r>
          </a:p>
          <a:p>
            <a:pPr algn="l" marL="579505" indent="-289753" lvl="1">
              <a:lnSpc>
                <a:spcPts val="3757"/>
              </a:lnSpc>
              <a:spcBef>
                <a:spcPct val="0"/>
              </a:spcBef>
              <a:buFont typeface="Arial"/>
              <a:buChar char="•"/>
            </a:pPr>
            <a:r>
              <a:rPr lang="en-US" sz="26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DATABASE INITIALIZATION VIA KUBERNETES JOB AND CONFIGMAP.</a:t>
            </a:r>
          </a:p>
          <a:p>
            <a:pPr algn="l">
              <a:lnSpc>
                <a:spcPts val="3757"/>
              </a:lnSpc>
              <a:spcBef>
                <a:spcPct val="0"/>
              </a:spcBef>
            </a:pP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ARCHITECTURE (AWS RDS)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3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407723"/>
            <a:ext cx="11925001" cy="350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EKS NODE GROUP RESOURCES REMEDIATION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DATABASE CONNECTION HANDSHAKE (SSL/TLS ENFORCEMENT)</a:t>
            </a: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AWS LOAD BALANCER CONTROLLER TARGET-TYPE MISMATCH</a:t>
            </a:r>
          </a:p>
          <a:p>
            <a:pPr algn="l">
              <a:lnSpc>
                <a:spcPts val="4037"/>
              </a:lnSpc>
            </a:pPr>
          </a:p>
          <a:p>
            <a:pPr algn="l">
              <a:lnSpc>
                <a:spcPts val="3757"/>
              </a:lnSpc>
              <a:spcBef>
                <a:spcPct val="0"/>
              </a:spcBef>
            </a:pP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03515" y="632779"/>
            <a:ext cx="11650186" cy="67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&amp; TROUBLESHOOTING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2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19175" y="1407723"/>
            <a:ext cx="15166583" cy="757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OBSERVABILITY STACK (PROMETHEUS, GRAFANA)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TODAY ⟶ ONLY KUBECTL LOGS AVAILABLE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GAP ⟶ NO METRICS, TRACING, OR ALERTING</a:t>
            </a:r>
          </a:p>
          <a:p>
            <a:pPr algn="l">
              <a:lnSpc>
                <a:spcPts val="4037"/>
              </a:lnSpc>
            </a:pP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HORIZONTAL POD AUTOSCALING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TODAY ⟶ REPLICA COUNTS ARE SET MANUALLY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GAP </a:t>
            </a: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⟶ </a:t>
            </a: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WASTE AT LOW LOAD, RISK AT TRAFFIC SPIKES</a:t>
            </a:r>
          </a:p>
          <a:p>
            <a:pPr algn="l">
              <a:lnSpc>
                <a:spcPts val="4037"/>
              </a:lnSpc>
            </a:pPr>
          </a:p>
          <a:p>
            <a:pPr algn="l" marL="622684" indent="-311342" lvl="1">
              <a:lnSpc>
                <a:spcPts val="4037"/>
              </a:lnSpc>
              <a:buFont typeface="Arial"/>
              <a:buChar char="•"/>
            </a:pPr>
            <a:r>
              <a:rPr lang="en-US" b="true" sz="288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AWS SECRETS MANAGER INTEGRATION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TODAY ⟶ USING NATIVE, BASE64-ENCODED KUBERNETES SECRETS</a:t>
            </a:r>
          </a:p>
          <a:p>
            <a:pPr algn="l" marL="1245368" indent="-415123" lvl="2">
              <a:lnSpc>
                <a:spcPts val="4037"/>
              </a:lnSpc>
              <a:buFont typeface="Arial"/>
              <a:buChar char="⚬"/>
            </a:pPr>
            <a:r>
              <a:rPr lang="en-US" sz="2884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GAP ⟶ LACK OF DYNAMIC SECRET ROTATION, ENCRYPTION-AT-REST GOVERNANCE, AND CENTRALIZED AUDITING</a:t>
            </a:r>
          </a:p>
          <a:p>
            <a:pPr algn="l">
              <a:lnSpc>
                <a:spcPts val="4037"/>
              </a:lnSpc>
            </a:pPr>
          </a:p>
          <a:p>
            <a:pPr algn="l">
              <a:lnSpc>
                <a:spcPts val="4037"/>
              </a:lnSpc>
            </a:pP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03515" y="632779"/>
            <a:ext cx="11650186" cy="133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ROADMAP —KNOWN GAPS &amp; NEXT STEPS</a:t>
            </a:r>
          </a:p>
          <a:p>
            <a:pPr algn="l">
              <a:lnSpc>
                <a:spcPts val="518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2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88907" y="0"/>
            <a:ext cx="1899093" cy="1729849"/>
            <a:chOff x="0" y="0"/>
            <a:chExt cx="500173" cy="455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173" cy="455598"/>
            </a:xfrm>
            <a:custGeom>
              <a:avLst/>
              <a:gdLst/>
              <a:ahLst/>
              <a:cxnLst/>
              <a:rect r="r" b="b" t="t" l="l"/>
              <a:pathLst>
                <a:path h="455598" w="500173">
                  <a:moveTo>
                    <a:pt x="0" y="0"/>
                  </a:moveTo>
                  <a:lnTo>
                    <a:pt x="500173" y="0"/>
                  </a:lnTo>
                  <a:lnTo>
                    <a:pt x="500173" y="455598"/>
                  </a:lnTo>
                  <a:lnTo>
                    <a:pt x="0" y="455598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0173" cy="49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94947" y="2341891"/>
            <a:ext cx="8613917" cy="190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60"/>
              </a:lnSpc>
              <a:spcBef>
                <a:spcPct val="0"/>
              </a:spcBef>
            </a:pPr>
            <a:r>
              <a:rPr lang="en-US" b="true" sz="10614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Q&amp;A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4947" y="4435663"/>
            <a:ext cx="10047180" cy="270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6"/>
              </a:lnSpc>
              <a:spcBef>
                <a:spcPct val="0"/>
              </a:spcBef>
            </a:pPr>
            <a:r>
              <a:rPr lang="en-US" sz="4761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THANK YOU FOR YOU</a:t>
            </a:r>
            <a:r>
              <a:rPr lang="en-US" sz="4761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 TIME!</a:t>
            </a:r>
          </a:p>
          <a:p>
            <a:pPr algn="l">
              <a:lnSpc>
                <a:spcPts val="6666"/>
              </a:lnSpc>
              <a:spcBef>
                <a:spcPct val="0"/>
              </a:spcBef>
            </a:pPr>
          </a:p>
          <a:p>
            <a:pPr algn="l">
              <a:lnSpc>
                <a:spcPts val="805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242127" y="9225455"/>
            <a:ext cx="602480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A1C20"/>
                </a:solidFill>
                <a:latin typeface="Arimo"/>
                <a:ea typeface="Arimo"/>
                <a:cs typeface="Arimo"/>
                <a:sym typeface="Arimo"/>
                <a:hlinkClick r:id="rId2" tooltip="https://github.com/abdelhadyi/taskflow-project.git"/>
              </a:rPr>
              <a:t>https://github.com/abdelhadyi/taskflow-project.git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DAHMjx2ue_s</dc:identifier>
  <dcterms:modified xsi:type="dcterms:W3CDTF">2011-08-01T06:04:30Z</dcterms:modified>
  <cp:revision>1</cp:revision>
  <dc:title>Digital evolution computer</dc:title>
</cp:coreProperties>
</file>